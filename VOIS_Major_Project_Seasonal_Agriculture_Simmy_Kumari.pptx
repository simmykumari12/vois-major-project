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jfif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53" r:id="rId32"/>
    <p:sldId id="352" r:id="rId31"/>
    <p:sldId id="350" r:id="rId29"/>
    <p:sldId id="349" r:id="rId28"/>
    <p:sldId id="348" r:id="rId27"/>
    <p:sldId id="347" r:id="rId26"/>
    <p:sldId id="341" r:id="rId15"/>
    <p:sldId id="351" r:id="rId30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7.xml"/><Relationship Id="rId16" Type="http://schemas.openxmlformats.org/officeDocument/2006/relationships/slide" Target="slides/slide19.xml"/><Relationship Id="rId17" Type="http://schemas.openxmlformats.org/officeDocument/2006/relationships/slide" Target="slides/slide20.xml"/><Relationship Id="rId18" Type="http://schemas.openxmlformats.org/officeDocument/2006/relationships/slide" Target="slides/slide21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Relationship Id="rId26" Type="http://schemas.openxmlformats.org/officeDocument/2006/relationships/slide" Target="slides/slide16.xml"/><Relationship Id="rId27" Type="http://schemas.openxmlformats.org/officeDocument/2006/relationships/slide" Target="slides/slide15.xml"/><Relationship Id="rId28" Type="http://schemas.openxmlformats.org/officeDocument/2006/relationships/slide" Target="slides/slide14.xml"/><Relationship Id="rId29" Type="http://schemas.openxmlformats.org/officeDocument/2006/relationships/slide" Target="slides/slide13.xml"/><Relationship Id="rId30" Type="http://schemas.openxmlformats.org/officeDocument/2006/relationships/slide" Target="slides/slide18.xml"/><Relationship Id="rId31" Type="http://schemas.openxmlformats.org/officeDocument/2006/relationships/slide" Target="slides/slide12.xml"/><Relationship Id="rId32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9/3/2026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f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3" Type="http://schemas.openxmlformats.org/officeDocument/2006/relationships/image" Target="../media/image1.jf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68680" y="3730752"/>
            <a:ext cx="5303520" cy="822960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Calibri"/>
              </a:rPr>
              <a:t>Simmy Kumari</a:t>
            </a:r>
            <a:endParaRPr lang="en-IN" b="0" dirty="0">
              <a:solidFill>
                <a:schemeClr val="tx1"/>
              </a:solidFill>
            </a:endParaRPr>
          </a:p>
          <a:p>
            <a:pPr algn="l"/>
            <a:r>
              <a:rPr sz="1250">
                <a:solidFill>
                  <a:srgbClr val="333333"/>
                </a:solidFill>
                <a:latin typeface="Calibri"/>
              </a:rPr>
              <a:t>Indira Gandhi Delhi Technical University for Women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4998720" cy="743448"/>
          </a:xfrm>
        </p:spPr>
        <p:txBody>
          <a:bodyPr>
            <a:normAutofit/>
          </a:bodyPr>
          <a:lstStyle/>
          <a:p>
            <a:r>
              <a:rPr lang="en-GB" sz="3000" dirty="0"/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868680" y="4526280"/>
            <a:ext cx="54864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1C7293"/>
                </a:solidFill>
                <a:latin typeface="Calibri"/>
              </a:rPr>
              <a:t>AICTE Student ID : STU63c3cafa16af61673775866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4919472"/>
            <a:ext cx="5029200" cy="3200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 i="1">
                <a:solidFill>
                  <a:srgbClr val="5A5A5A"/>
                </a:solidFill>
                <a:latin typeface="Calibri"/>
              </a:rPr>
              <a:t>VOIS for Tech – AICTE Internship  |  Batch 1, 2026–27  | 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77240" y="1691640"/>
            <a:ext cx="5760720" cy="4206240"/>
          </a:xfrm>
        </p:spPr>
        <p:txBody>
          <a:bodyPr vert="horz" lIns="91440" tIns="45720" rIns="91440" bIns="45720" rtlCol="0" anchor="t" wrap="square">
            <a:normAutofit fontScale="70000" lnSpcReduction="20000"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Agricultural activity is shaped by seasonal variation in environmental conditions, farming practices, resource availability and market prices. As a result, performance differs from one season to another.</a:t>
            </a:r>
            <a:endParaRPr lang="en-IN" sz="2800" dirty="0"/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Raw agricultural data, on its own, does not explain how performance changes across seasons or which patterns hold under different seasonal conditions.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The problem is to analyse a 4,000-farm seasonal agriculture dataset and investigate how performance differs across Kharif, Rabi and Zaid — identifying meaningful patterns, trends, relationships and variations within the available data.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1645920"/>
            <a:ext cx="5760720" cy="5486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 i="1">
                <a:solidFill>
                  <a:srgbClr val="5A5A5A"/>
                </a:solidFill>
                <a:latin typeface="Calibri"/>
              </a:rPr>
              <a:t>An end-to-end exploratory data analysis of seasonal agricultural performance across 8 Indian states, built in Python.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31720"/>
            <a:ext cx="83667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1F3864"/>
                </a:solidFill>
                <a:latin typeface="Calibri"/>
              </a:rPr>
              <a:t>▪  The dataset</a:t>
            </a:r>
            <a:r>
              <a:rPr sz="1350">
                <a:solidFill>
                  <a:srgbClr val="333333"/>
                </a:solidFill>
                <a:latin typeface="Calibri"/>
              </a:rPr>
              <a:t>  4,000 farm records × 28 attributes covering environment, soil, inputs, irrigation, output and economics across 3 seasons (Kharif, Rabi, Zaid), 8 crops and 8 states.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1F3864"/>
                </a:solidFill>
                <a:latin typeface="Calibri"/>
              </a:rPr>
              <a:t>▪  Data preparation</a:t>
            </a:r>
            <a:r>
              <a:rPr sz="1350">
                <a:solidFill>
                  <a:srgbClr val="333333"/>
                </a:solidFill>
                <a:latin typeface="Calibri"/>
              </a:rPr>
              <a:t>  Profiled structure and data types, quantified missing values in Rainfall, Soil Moisture and Yield, imputed them with the median, confirmed zero duplicates and reviewed outliers.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1F3864"/>
                </a:solidFill>
                <a:latin typeface="Calibri"/>
              </a:rPr>
              <a:t>▪  Analysis performed</a:t>
            </a:r>
            <a:r>
              <a:rPr sz="1350">
                <a:solidFill>
                  <a:srgbClr val="333333"/>
                </a:solidFill>
                <a:latin typeface="Calibri"/>
              </a:rPr>
              <a:t>  Season-wise aggregation of yield, production, profit, water use and pest risk; crop × season and state × season pivot heatmaps; irrigation comparison; correlation analysis; and a one-way ANOVA on yield across seasons.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1F3864"/>
                </a:solidFill>
                <a:latin typeface="Calibri"/>
              </a:rPr>
              <a:t>▪  Visualisation</a:t>
            </a:r>
            <a:r>
              <a:rPr sz="1350">
                <a:solidFill>
                  <a:srgbClr val="333333"/>
                </a:solidFill>
                <a:latin typeface="Calibri"/>
              </a:rPr>
              <a:t>  22+ charts built with Matplotlib and Seaborn — histograms, box plots, bar charts, scatter plots and annotated heatmaps.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1F3864"/>
                </a:solidFill>
                <a:latin typeface="Calibri"/>
              </a:rPr>
              <a:t>▪  Deliverable</a:t>
            </a:r>
            <a:r>
              <a:rPr sz="1350">
                <a:solidFill>
                  <a:srgbClr val="333333"/>
                </a:solidFill>
                <a:latin typeface="Calibri"/>
              </a:rPr>
              <a:t>  A documented Jupyter Notebook ending in evidence-based insights and recommendations for seasonal agricultural planning.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5800" y="1719072"/>
            <a:ext cx="5760720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 i="1">
                <a:solidFill>
                  <a:srgbClr val="5A5A5A"/>
                </a:solidFill>
                <a:latin typeface="Calibri"/>
              </a:rPr>
              <a:t>Anyone whose decisions change with the season.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286000"/>
            <a:ext cx="83667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1F3864"/>
                </a:solidFill>
                <a:latin typeface="Calibri"/>
              </a:rPr>
              <a:t>▪  Farmers and farmer producer organisations</a:t>
            </a:r>
            <a:r>
              <a:rPr sz="1350">
                <a:solidFill>
                  <a:srgbClr val="333333"/>
                </a:solidFill>
                <a:latin typeface="Calibri"/>
              </a:rPr>
              <a:t>  — choosing which crop, season and irrigation method gives the best return on their land.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1F3864"/>
                </a:solidFill>
                <a:latin typeface="Calibri"/>
              </a:rPr>
              <a:t>▪  Agricultural officers and extension services</a:t>
            </a:r>
            <a:r>
              <a:rPr sz="1350">
                <a:solidFill>
                  <a:srgbClr val="333333"/>
                </a:solidFill>
                <a:latin typeface="Calibri"/>
              </a:rPr>
              <a:t>  — targeting seasonal advisories, pest alerts and input support where the data shows they are needed.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1F3864"/>
                </a:solidFill>
                <a:latin typeface="Calibri"/>
              </a:rPr>
              <a:t>▪  State agriculture departments and policy planners</a:t>
            </a:r>
            <a:r>
              <a:rPr sz="1350">
                <a:solidFill>
                  <a:srgbClr val="333333"/>
                </a:solidFill>
                <a:latin typeface="Calibri"/>
              </a:rPr>
              <a:t>  — allocating subsidies, water and price support across Kharif, Rabi and Zaid.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1F3864"/>
                </a:solidFill>
                <a:latin typeface="Calibri"/>
              </a:rPr>
              <a:t>▪  Agri-input and irrigation companies</a:t>
            </a:r>
            <a:r>
              <a:rPr sz="1350">
                <a:solidFill>
                  <a:srgbClr val="333333"/>
                </a:solidFill>
                <a:latin typeface="Calibri"/>
              </a:rPr>
              <a:t>  — planning seasonal demand for fertiliser, pesticide and drip / sprinkler systems.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1F3864"/>
                </a:solidFill>
                <a:latin typeface="Calibri"/>
              </a:rPr>
              <a:t>▪  Agri-finance, insurance and lending institutions</a:t>
            </a:r>
            <a:r>
              <a:rPr sz="1350">
                <a:solidFill>
                  <a:srgbClr val="333333"/>
                </a:solidFill>
                <a:latin typeface="Calibri"/>
              </a:rPr>
              <a:t>  — pricing seasonal risk using yield variability, pest risk and profitability evidence.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1F3864"/>
                </a:solidFill>
                <a:latin typeface="Calibri"/>
              </a:rPr>
              <a:t>▪  Researchers and data-analytics students</a:t>
            </a:r>
            <a:r>
              <a:rPr sz="1350">
                <a:solidFill>
                  <a:srgbClr val="333333"/>
                </a:solidFill>
                <a:latin typeface="Calibri"/>
              </a:rPr>
              <a:t>  — as a reproducible template for seasonal agricultural analysis.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57400" y="1481328"/>
            <a:ext cx="3337560" cy="1051560"/>
          </a:xfrm>
          <a:prstGeom prst="roundRect">
            <a:avLst/>
          </a:prstGeom>
          <a:solidFill>
            <a:srgbClr val="EFF5FA"/>
          </a:solidFill>
          <a:ln w="9525">
            <a:solidFill>
              <a:srgbClr val="D3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Python 3</a:t>
            </a:r>
          </a:p>
          <a:p>
            <a:pPr algn="l"/>
            <a:r>
              <a:rPr sz="1150">
                <a:solidFill>
                  <a:srgbClr val="333333"/>
                </a:solidFill>
                <a:latin typeface="Calibri"/>
              </a:rPr>
              <a:t>Core language for the entire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79" y="1481328"/>
            <a:ext cx="3337560" cy="1051560"/>
          </a:xfrm>
          <a:prstGeom prst="roundRect">
            <a:avLst/>
          </a:prstGeom>
          <a:solidFill>
            <a:srgbClr val="EFF5FA"/>
          </a:solidFill>
          <a:ln w="9525">
            <a:solidFill>
              <a:srgbClr val="D3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Pandas</a:t>
            </a:r>
          </a:p>
          <a:p>
            <a:pPr algn="l"/>
            <a:r>
              <a:rPr sz="1150">
                <a:solidFill>
                  <a:srgbClr val="333333"/>
                </a:solidFill>
                <a:latin typeface="Calibri"/>
              </a:rPr>
              <a:t>Loading, cleaning, grouping, pivot tables, aggregation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57400" y="2807208"/>
            <a:ext cx="3337560" cy="1051560"/>
          </a:xfrm>
          <a:prstGeom prst="roundRect">
            <a:avLst/>
          </a:prstGeom>
          <a:solidFill>
            <a:srgbClr val="EFF5FA"/>
          </a:solidFill>
          <a:ln w="9525">
            <a:solidFill>
              <a:srgbClr val="D3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NumPy</a:t>
            </a:r>
          </a:p>
          <a:p>
            <a:pPr algn="l"/>
            <a:r>
              <a:rPr sz="1150">
                <a:solidFill>
                  <a:srgbClr val="333333"/>
                </a:solidFill>
                <a:latin typeface="Calibri"/>
              </a:rPr>
              <a:t>Numerical operations and dtype selection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79" y="2807208"/>
            <a:ext cx="3337560" cy="1051560"/>
          </a:xfrm>
          <a:prstGeom prst="roundRect">
            <a:avLst/>
          </a:prstGeom>
          <a:solidFill>
            <a:srgbClr val="EFF5FA"/>
          </a:solidFill>
          <a:ln w="9525">
            <a:solidFill>
              <a:srgbClr val="D3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Matplotlib</a:t>
            </a:r>
          </a:p>
          <a:p>
            <a:pPr algn="l"/>
            <a:r>
              <a:rPr sz="1150">
                <a:solidFill>
                  <a:srgbClr val="333333"/>
                </a:solidFill>
                <a:latin typeface="Calibri"/>
              </a:rPr>
              <a:t>Figure creation, axes, titles and layout control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57400" y="4133087"/>
            <a:ext cx="3337560" cy="1051560"/>
          </a:xfrm>
          <a:prstGeom prst="roundRect">
            <a:avLst/>
          </a:prstGeom>
          <a:solidFill>
            <a:srgbClr val="EFF5FA"/>
          </a:solidFill>
          <a:ln w="9525">
            <a:solidFill>
              <a:srgbClr val="D3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Seaborn</a:t>
            </a:r>
          </a:p>
          <a:p>
            <a:pPr algn="l"/>
            <a:r>
              <a:rPr sz="1150">
                <a:solidFill>
                  <a:srgbClr val="333333"/>
                </a:solidFill>
                <a:latin typeface="Calibri"/>
              </a:rPr>
              <a:t>Histograms, box plots, bar plots, scatter plots, heatmaps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79" y="4133087"/>
            <a:ext cx="3337560" cy="1051560"/>
          </a:xfrm>
          <a:prstGeom prst="roundRect">
            <a:avLst/>
          </a:prstGeom>
          <a:solidFill>
            <a:srgbClr val="EFF5FA"/>
          </a:solidFill>
          <a:ln w="9525">
            <a:solidFill>
              <a:srgbClr val="D3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SciPy (stats)</a:t>
            </a:r>
          </a:p>
          <a:p>
            <a:pPr algn="l"/>
            <a:r>
              <a:rPr sz="1150">
                <a:solidFill>
                  <a:srgbClr val="333333"/>
                </a:solidFill>
                <a:latin typeface="Calibri"/>
              </a:rPr>
              <a:t>One-way ANOVA test for seasonal yield differences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57400" y="5458968"/>
            <a:ext cx="3337560" cy="1051560"/>
          </a:xfrm>
          <a:prstGeom prst="roundRect">
            <a:avLst/>
          </a:prstGeom>
          <a:solidFill>
            <a:srgbClr val="EFF5FA"/>
          </a:solidFill>
          <a:ln w="9525">
            <a:solidFill>
              <a:srgbClr val="D3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Jupyter / Google Colab</a:t>
            </a:r>
          </a:p>
          <a:p>
            <a:pPr algn="l"/>
            <a:r>
              <a:rPr sz="1150">
                <a:solidFill>
                  <a:srgbClr val="333333"/>
                </a:solidFill>
                <a:latin typeface="Calibri"/>
              </a:rPr>
              <a:t>Interactive notebook environment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79" y="5458968"/>
            <a:ext cx="3337560" cy="1051560"/>
          </a:xfrm>
          <a:prstGeom prst="roundRect">
            <a:avLst/>
          </a:prstGeom>
          <a:solidFill>
            <a:srgbClr val="EFF5FA"/>
          </a:solidFill>
          <a:ln w="9525">
            <a:solidFill>
              <a:srgbClr val="D3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Git &amp; GitHub</a:t>
            </a:r>
          </a:p>
          <a:p>
            <a:pPr algn="l"/>
            <a:r>
              <a:rPr sz="1150">
                <a:solidFill>
                  <a:srgbClr val="333333"/>
                </a:solidFill>
                <a:latin typeface="Calibri"/>
              </a:rPr>
              <a:t>Version control and project hosting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</a:t>
            </a: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548640" y="1133856"/>
            <a:ext cx="8503920" cy="411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1C7293"/>
                </a:solidFill>
                <a:latin typeface="Calibri"/>
              </a:rPr>
              <a:t>1. Loading the dataset and understanding its 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97880"/>
            <a:ext cx="8503920" cy="5486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2E7D32"/>
                </a:solidFill>
                <a:latin typeface="Calibri"/>
              </a:rPr>
              <a:t>Insight:  </a:t>
            </a:r>
            <a:r>
              <a:rPr sz="1300">
                <a:solidFill>
                  <a:srgbClr val="333333"/>
                </a:solidFill>
                <a:latin typeface="Calibri"/>
              </a:rPr>
              <a:t>4,000 farm records across 28 attributes — 3 seasons, 8 crops and 8 states. Season counts are uneven (Kharif 1,779, Rabi 1,627, Zaid 594), which matters when comparing them.</a:t>
            </a:r>
          </a:p>
        </p:txBody>
      </p:sp>
      <p:pic>
        <p:nvPicPr>
          <p:cNvPr id="26" name="Picture 25" descr="s1_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66" y="1627632"/>
            <a:ext cx="7755466" cy="418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548640" y="1133856"/>
            <a:ext cx="8503920" cy="411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1C7293"/>
                </a:solidFill>
                <a:latin typeface="Calibri"/>
              </a:rPr>
              <a:t>2. Data quality check and cleaning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897880"/>
            <a:ext cx="8503920" cy="5486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2E7D32"/>
                </a:solidFill>
                <a:latin typeface="Calibri"/>
              </a:rPr>
              <a:t>Insight:  </a:t>
            </a:r>
            <a:r>
              <a:rPr sz="1300">
                <a:solidFill>
                  <a:srgbClr val="333333"/>
                </a:solidFill>
                <a:latin typeface="Calibri"/>
              </a:rPr>
              <a:t>Only 120 missing values (3.0% of rows) in three columns, and zero duplicates. The median was used rather than the mean because yield is heavily right-skewed.</a:t>
            </a:r>
          </a:p>
        </p:txBody>
      </p:sp>
      <p:pic>
        <p:nvPicPr>
          <p:cNvPr id="33" name="Picture 32" descr="s2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347" y="1627632"/>
            <a:ext cx="6834505" cy="418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548640" y="1133856"/>
            <a:ext cx="8503920" cy="411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1C7293"/>
                </a:solidFill>
                <a:latin typeface="Calibri"/>
              </a:rPr>
              <a:t>3. Distribution and outlier review of key variables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897880"/>
            <a:ext cx="8503920" cy="5486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2E7D32"/>
                </a:solidFill>
                <a:latin typeface="Calibri"/>
              </a:rPr>
              <a:t>Insight:  </a:t>
            </a:r>
            <a:r>
              <a:rPr sz="1300">
                <a:solidFill>
                  <a:srgbClr val="333333"/>
                </a:solidFill>
                <a:latin typeface="Calibri"/>
              </a:rPr>
              <a:t>Yield is strongly right-skewed (median 1.74 vs mean 5.27 t/ha) because sugarcane averages 46.6 t/ha against 1–3 t/ha for every other crop — so those high values are a real crop effect, not bad data.</a:t>
            </a:r>
          </a:p>
        </p:txBody>
      </p:sp>
      <p:pic>
        <p:nvPicPr>
          <p:cNvPr id="33" name="Picture 32" descr="yield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44405"/>
            <a:ext cx="4160520" cy="3154404"/>
          </a:xfrm>
          <a:prstGeom prst="rect">
            <a:avLst/>
          </a:prstGeom>
        </p:spPr>
      </p:pic>
      <p:pic>
        <p:nvPicPr>
          <p:cNvPr id="34" name="Picture 33" descr="outli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144405"/>
            <a:ext cx="4160520" cy="315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548640" y="1133856"/>
            <a:ext cx="8503920" cy="411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1C7293"/>
                </a:solidFill>
                <a:latin typeface="Calibri"/>
              </a:rPr>
              <a:t>4. Seasonal performance — yield, production and profit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897880"/>
            <a:ext cx="8503920" cy="5486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2E7D32"/>
                </a:solidFill>
                <a:latin typeface="Calibri"/>
              </a:rPr>
              <a:t>Insight:  </a:t>
            </a:r>
            <a:r>
              <a:rPr sz="1300">
                <a:solidFill>
                  <a:srgbClr val="333333"/>
                </a:solidFill>
                <a:latin typeface="Calibri"/>
              </a:rPr>
              <a:t>Kharif leads on all three measures. The profit gap is the striking one: ₹1.79 lakh average profit in Kharif against an average loss of ₹24,805 in Zaid.</a:t>
            </a:r>
          </a:p>
        </p:txBody>
      </p:sp>
      <p:pic>
        <p:nvPicPr>
          <p:cNvPr id="33" name="Picture 32" descr="season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84498"/>
            <a:ext cx="2712720" cy="2274218"/>
          </a:xfrm>
          <a:prstGeom prst="rect">
            <a:avLst/>
          </a:prstGeom>
        </p:spPr>
      </p:pic>
      <p:pic>
        <p:nvPicPr>
          <p:cNvPr id="34" name="Picture 33" descr="season_pr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240" y="2583356"/>
            <a:ext cx="2712720" cy="2276503"/>
          </a:xfrm>
          <a:prstGeom prst="rect">
            <a:avLst/>
          </a:prstGeom>
        </p:spPr>
      </p:pic>
      <p:pic>
        <p:nvPicPr>
          <p:cNvPr id="35" name="Picture 34" descr="season_prof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840" y="2575291"/>
            <a:ext cx="2712720" cy="229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548640" y="1133856"/>
            <a:ext cx="8503920" cy="411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1C7293"/>
                </a:solidFill>
                <a:latin typeface="Calibri"/>
              </a:rPr>
              <a:t>5. The season-wise aggregation behind those charts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897880"/>
            <a:ext cx="8503920" cy="5486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2E7D32"/>
                </a:solidFill>
                <a:latin typeface="Calibri"/>
              </a:rPr>
              <a:t>Insight:  </a:t>
            </a:r>
            <a:r>
              <a:rPr sz="1300">
                <a:solidFill>
                  <a:srgbClr val="333333"/>
                </a:solidFill>
                <a:latin typeface="Calibri"/>
              </a:rPr>
              <a:t>Kharif yields 5.63 t/ha against Zaid's 4.64 — a 21% gap — but profit swings from +₹1.79 lakh to −₹24,805, so cost and price matter far more than yield alone.</a:t>
            </a:r>
          </a:p>
        </p:txBody>
      </p:sp>
      <p:pic>
        <p:nvPicPr>
          <p:cNvPr id="33" name="Picture 32" descr="s3_a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276" y="1627632"/>
            <a:ext cx="6608647" cy="418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548640" y="1133856"/>
            <a:ext cx="8503920" cy="411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1C7293"/>
                </a:solidFill>
                <a:latin typeface="Calibri"/>
              </a:rPr>
              <a:t>6. Environmental conditions across the three seasons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897880"/>
            <a:ext cx="8503920" cy="5486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2E7D32"/>
                </a:solidFill>
                <a:latin typeface="Calibri"/>
              </a:rPr>
              <a:t>Insight:  </a:t>
            </a:r>
            <a:r>
              <a:rPr sz="1300">
                <a:solidFill>
                  <a:srgbClr val="333333"/>
                </a:solidFill>
                <a:latin typeface="Calibri"/>
              </a:rPr>
              <a:t>The seasons are genuinely distinct: Kharif averages 849 mm rainfall and 31% soil moisture, while Zaid gets only 305 mm and 19% and runs hottest at 31°C — the driest, hottest season.</a:t>
            </a:r>
          </a:p>
        </p:txBody>
      </p:sp>
      <p:pic>
        <p:nvPicPr>
          <p:cNvPr id="33" name="Picture 32" descr="rain_sea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84498"/>
            <a:ext cx="2712720" cy="2274218"/>
          </a:xfrm>
          <a:prstGeom prst="rect">
            <a:avLst/>
          </a:prstGeom>
        </p:spPr>
      </p:pic>
      <p:pic>
        <p:nvPicPr>
          <p:cNvPr id="34" name="Picture 33" descr="temp_sea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240" y="2583356"/>
            <a:ext cx="2712720" cy="2276503"/>
          </a:xfrm>
          <a:prstGeom prst="rect">
            <a:avLst/>
          </a:prstGeom>
        </p:spPr>
      </p:pic>
      <p:pic>
        <p:nvPicPr>
          <p:cNvPr id="35" name="Picture 34" descr="moist_sea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840" y="2583356"/>
            <a:ext cx="2712720" cy="227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548640" y="1133856"/>
            <a:ext cx="8503920" cy="411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1C7293"/>
                </a:solidFill>
                <a:latin typeface="Calibri"/>
              </a:rPr>
              <a:t>7. Crop-level patterns and the crop × season yield heatmap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897880"/>
            <a:ext cx="8503920" cy="5486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2E7D32"/>
                </a:solidFill>
                <a:latin typeface="Calibri"/>
              </a:rPr>
              <a:t>Insight:  </a:t>
            </a:r>
            <a:r>
              <a:rPr sz="1300">
                <a:solidFill>
                  <a:srgbClr val="333333"/>
                </a:solidFill>
                <a:latin typeface="Calibri"/>
              </a:rPr>
              <a:t>Kharif is the best season for all 8 crops without exception. But the spread between crops (sugarcane 46.6 t/ha vs pulses 0.92) is far wider than the spread between seasons — crop choice outweighs season.</a:t>
            </a:r>
          </a:p>
        </p:txBody>
      </p:sp>
      <p:pic>
        <p:nvPicPr>
          <p:cNvPr id="33" name="Picture 32" descr="crop_season_h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86720"/>
            <a:ext cx="4160520" cy="3269775"/>
          </a:xfrm>
          <a:prstGeom prst="rect">
            <a:avLst/>
          </a:prstGeom>
        </p:spPr>
      </p:pic>
      <p:pic>
        <p:nvPicPr>
          <p:cNvPr id="34" name="Picture 33" descr="crop_y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144405"/>
            <a:ext cx="4160520" cy="315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548640" y="1133856"/>
            <a:ext cx="8503920" cy="411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1C7293"/>
                </a:solidFill>
                <a:latin typeface="Calibri"/>
              </a:rPr>
              <a:t>8. Resource usage, irrigation method and water efficiency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897880"/>
            <a:ext cx="8503920" cy="5486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2E7D32"/>
                </a:solidFill>
                <a:latin typeface="Calibri"/>
              </a:rPr>
              <a:t>Insight:  </a:t>
            </a:r>
            <a:r>
              <a:rPr sz="1300">
                <a:solidFill>
                  <a:srgbClr val="333333"/>
                </a:solidFill>
                <a:latin typeface="Calibri"/>
              </a:rPr>
              <a:t>Drip irrigation averages 6.58 t/ha against 4.60 for rainfed — a 43% advantage. Input levels are near-identical across seasons, yet Zaid uses the most water (6,420 m³) for the lowest efficiency (4.41 t / 1000 m³).</a:t>
            </a:r>
          </a:p>
        </p:txBody>
      </p:sp>
      <p:pic>
        <p:nvPicPr>
          <p:cNvPr id="33" name="Picture 32" descr="irrig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81992"/>
            <a:ext cx="2712720" cy="2279230"/>
          </a:xfrm>
          <a:prstGeom prst="rect">
            <a:avLst/>
          </a:prstGeom>
        </p:spPr>
      </p:pic>
      <p:pic>
        <p:nvPicPr>
          <p:cNvPr id="34" name="Picture 33" descr="water_e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240" y="2584498"/>
            <a:ext cx="2712720" cy="2274218"/>
          </a:xfrm>
          <a:prstGeom prst="rect">
            <a:avLst/>
          </a:prstGeom>
        </p:spPr>
      </p:pic>
      <p:pic>
        <p:nvPicPr>
          <p:cNvPr id="35" name="Picture 34" descr="resource_he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840" y="2644005"/>
            <a:ext cx="2712720" cy="215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548640" y="1133856"/>
            <a:ext cx="8503920" cy="411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1C7293"/>
                </a:solidFill>
                <a:latin typeface="Calibri"/>
              </a:rPr>
              <a:t>9. Which factors actually move yield? Correlation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897880"/>
            <a:ext cx="8503920" cy="5486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2E7D32"/>
                </a:solidFill>
                <a:latin typeface="Calibri"/>
              </a:rPr>
              <a:t>Insight:  </a:t>
            </a:r>
            <a:r>
              <a:rPr sz="1300">
                <a:solidFill>
                  <a:srgbClr val="333333"/>
                </a:solidFill>
                <a:latin typeface="Calibri"/>
              </a:rPr>
              <a:t>Water efficiency (r = 0.91) and production (r = 0.88) dominate, while fertiliser, rainfall and soil pH sit near zero. Market price is negatively correlated (r = −0.38) — high-volume sugarcane sells at ₹3,490/tonne against ₹1.03 lakh for chilli.</a:t>
            </a:r>
          </a:p>
        </p:txBody>
      </p:sp>
      <p:pic>
        <p:nvPicPr>
          <p:cNvPr id="33" name="Picture 32" descr="s4_co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07641"/>
            <a:ext cx="4160520" cy="3027934"/>
          </a:xfrm>
          <a:prstGeom prst="rect">
            <a:avLst/>
          </a:prstGeom>
        </p:spPr>
      </p:pic>
      <p:pic>
        <p:nvPicPr>
          <p:cNvPr id="34" name="Picture 33" descr="rain_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140323"/>
            <a:ext cx="4160520" cy="316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548640" y="1133856"/>
            <a:ext cx="8503920" cy="411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1C7293"/>
                </a:solidFill>
                <a:latin typeface="Calibri"/>
              </a:rPr>
              <a:t>10. Economic performance and pest risk by season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897880"/>
            <a:ext cx="8503920" cy="5486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2E7D32"/>
                </a:solidFill>
                <a:latin typeface="Calibri"/>
              </a:rPr>
              <a:t>Insight:  </a:t>
            </a:r>
            <a:r>
              <a:rPr sz="1300">
                <a:solidFill>
                  <a:srgbClr val="333333"/>
                </a:solidFill>
                <a:latin typeface="Calibri"/>
              </a:rPr>
              <a:t>Zaid is the only season where average cost (₹5.44 lakh) exceeds revenue (₹5.19 lakh). Kharif carries the highest pest risk at 54.5%, so its higher returns come with higher exposure.</a:t>
            </a:r>
          </a:p>
        </p:txBody>
      </p:sp>
      <p:pic>
        <p:nvPicPr>
          <p:cNvPr id="33" name="Picture 32" descr="rev_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51163"/>
            <a:ext cx="4160520" cy="3140889"/>
          </a:xfrm>
          <a:prstGeom prst="rect">
            <a:avLst/>
          </a:prstGeom>
        </p:spPr>
      </p:pic>
      <p:pic>
        <p:nvPicPr>
          <p:cNvPr id="34" name="Picture 33" descr="dise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144405"/>
            <a:ext cx="4160520" cy="315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548640" y="1133856"/>
            <a:ext cx="8503920" cy="411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1C7293"/>
                </a:solidFill>
                <a:latin typeface="Calibri"/>
              </a:rPr>
              <a:t>11. State-wise variation and the state × season heatmap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897880"/>
            <a:ext cx="8503920" cy="5486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2E7D32"/>
                </a:solidFill>
                <a:latin typeface="Calibri"/>
              </a:rPr>
              <a:t>Insight:  </a:t>
            </a:r>
            <a:r>
              <a:rPr sz="1300">
                <a:solidFill>
                  <a:srgbClr val="333333"/>
                </a:solidFill>
                <a:latin typeface="Calibri"/>
              </a:rPr>
              <a:t>Punjab leads overall at 6.12 t/ha. The best season varies by state — Kharif wins in 5 of 8 states, while Punjab and Maharashtra peak in Rabi and Karnataka in Zaid.</a:t>
            </a:r>
          </a:p>
        </p:txBody>
      </p:sp>
      <p:pic>
        <p:nvPicPr>
          <p:cNvPr id="33" name="Picture 32" descr="state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44405"/>
            <a:ext cx="4160520" cy="3154404"/>
          </a:xfrm>
          <a:prstGeom prst="rect">
            <a:avLst/>
          </a:prstGeom>
        </p:spPr>
      </p:pic>
      <p:pic>
        <p:nvPicPr>
          <p:cNvPr id="34" name="Picture 33" descr="state_season_he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077922"/>
            <a:ext cx="4160520" cy="328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3200" dirty="0"/>
              <a:t>Statistical Validation &amp; Conclusion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1133856"/>
            <a:ext cx="8503920" cy="411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1C7293"/>
                </a:solidFill>
                <a:latin typeface="Calibri"/>
              </a:rPr>
              <a:t>One-way ANOVA on yield across seasons, and the consolidated season summary</a:t>
            </a:r>
          </a:p>
        </p:txBody>
      </p:sp>
      <p:pic>
        <p:nvPicPr>
          <p:cNvPr id="25" name="Picture 24" descr="s5_ano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69623"/>
            <a:ext cx="4617720" cy="1470497"/>
          </a:xfrm>
          <a:prstGeom prst="rect">
            <a:avLst/>
          </a:prstGeom>
        </p:spPr>
      </p:pic>
      <p:pic>
        <p:nvPicPr>
          <p:cNvPr id="26" name="Picture 25" descr="s6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06209"/>
            <a:ext cx="4617720" cy="303450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486400" y="1664208"/>
            <a:ext cx="3566160" cy="4663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>
                <a:solidFill>
                  <a:srgbClr val="1F3864"/>
                </a:solidFill>
                <a:latin typeface="Calibri"/>
              </a:rPr>
              <a:t>▪  p = 0.214 &gt; 0.05</a:t>
            </a:r>
            <a:r>
              <a:rPr sz="1250">
                <a:solidFill>
                  <a:srgbClr val="333333"/>
                </a:solidFill>
                <a:latin typeface="Calibri"/>
              </a:rPr>
              <a:t>  The ANOVA on raw yield is not significant — the sugarcane tail inflates within-season variance enough to mask the seasonal effect.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>
                <a:solidFill>
                  <a:srgbClr val="1F3864"/>
                </a:solidFill>
                <a:latin typeface="Calibri"/>
              </a:rPr>
              <a:t>▪  Yet the ordering is perfectly consistent.</a:t>
            </a:r>
            <a:r>
              <a:rPr sz="1250">
                <a:solidFill>
                  <a:srgbClr val="333333"/>
                </a:solidFill>
                <a:latin typeface="Calibri"/>
              </a:rPr>
              <a:t>  Within every one of the 8 crops, Kharif &gt; Rabi &gt; Zaid. The effect is real but must be compared crop by crop.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>
                <a:solidFill>
                  <a:srgbClr val="1F3864"/>
                </a:solidFill>
                <a:latin typeface="Calibri"/>
              </a:rPr>
              <a:t>▪  The economics separate clearly.</a:t>
            </a:r>
            <a:r>
              <a:rPr sz="1250">
                <a:solidFill>
                  <a:srgbClr val="333333"/>
                </a:solidFill>
                <a:latin typeface="Calibri"/>
              </a:rPr>
              <a:t>  Kharif earns ₹1.79 lakh average profit; Zaid loses ₹24,805 — driven by cost and price, not yield alone.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>
                <a:solidFill>
                  <a:srgbClr val="1F3864"/>
                </a:solidFill>
                <a:latin typeface="Calibri"/>
              </a:rPr>
              <a:t>▪  Efficiency is the lever worth pulling.</a:t>
            </a:r>
            <a:r>
              <a:rPr sz="1250">
                <a:solidFill>
                  <a:srgbClr val="333333"/>
                </a:solidFill>
                <a:latin typeface="Calibri"/>
              </a:rPr>
              <a:t>  Water efficiency correlates with yield at r = 0.91, and drip beats rainfed by 43%.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1133856"/>
            <a:ext cx="8503920" cy="411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1C7293"/>
                </a:solidFill>
                <a:latin typeface="Calibri"/>
              </a:rPr>
              <a:t>Where this analysis can go 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103120"/>
            <a:ext cx="836676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1F3864"/>
                </a:solidFill>
                <a:latin typeface="Calibri"/>
              </a:rPr>
              <a:t>▪  Predictive modelling</a:t>
            </a:r>
            <a:r>
              <a:rPr sz="1350">
                <a:solidFill>
                  <a:srgbClr val="333333"/>
                </a:solidFill>
                <a:latin typeface="Calibri"/>
              </a:rPr>
              <a:t>  Train regression models (Random Forest, XGBoost) to forecast yield and profit from environmental and input variables before the season begins.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1F3864"/>
                </a:solidFill>
                <a:latin typeface="Calibri"/>
              </a:rPr>
              <a:t>▪  Profitability classification</a:t>
            </a:r>
            <a:r>
              <a:rPr sz="1350">
                <a:solidFill>
                  <a:srgbClr val="333333"/>
                </a:solidFill>
                <a:latin typeface="Calibri"/>
              </a:rPr>
              <a:t>  Build a classifier that flags farm-season combinations at risk of running a loss, as Zaid does on average here.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1F3864"/>
                </a:solidFill>
                <a:latin typeface="Calibri"/>
              </a:rPr>
              <a:t>▪  Crop-wise statistical testing</a:t>
            </a:r>
            <a:r>
              <a:rPr sz="1350">
                <a:solidFill>
                  <a:srgbClr val="333333"/>
                </a:solidFill>
                <a:latin typeface="Calibri"/>
              </a:rPr>
              <a:t>  Run ANOVA and post-hoc tests within each crop, or on log-transformed yield, so the sugarcane tail no longer masks the seasonal effect.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1F3864"/>
                </a:solidFill>
                <a:latin typeface="Calibri"/>
              </a:rPr>
              <a:t>▪  Multi-year and live data</a:t>
            </a:r>
            <a:r>
              <a:rPr sz="1350">
                <a:solidFill>
                  <a:srgbClr val="333333"/>
                </a:solidFill>
                <a:latin typeface="Calibri"/>
              </a:rPr>
              <a:t>  Extend to multi-year records and real sources — IMD weather, soil health cards, eNAM mandi prices — so trends can be tracked over time rather than in a single snapshot.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1F3864"/>
                </a:solidFill>
                <a:latin typeface="Calibri"/>
              </a:rPr>
              <a:t>▪  Water-optimisation module</a:t>
            </a:r>
            <a:r>
              <a:rPr sz="1350">
                <a:solidFill>
                  <a:srgbClr val="333333"/>
                </a:solidFill>
                <a:latin typeface="Calibri"/>
              </a:rPr>
              <a:t>  Recommend the irrigation method and water budget that maximises efficiency per crop, season and state.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1F3864"/>
                </a:solidFill>
                <a:latin typeface="Calibri"/>
              </a:rPr>
              <a:t>▪  Interactive dashboard</a:t>
            </a:r>
            <a:r>
              <a:rPr sz="1350">
                <a:solidFill>
                  <a:srgbClr val="333333"/>
                </a:solidFill>
                <a:latin typeface="Calibri"/>
              </a:rPr>
              <a:t>  Deploy the season, crop and state views as a Streamlit or Power BI dashboard so officers can explore without code.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548640" y="1645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C7293"/>
                </a:solidFill>
                <a:latin typeface="Calibri"/>
              </a:rPr>
              <a:t>https://github.com/SimmyKumari12/VOIS-Major-Project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514600"/>
            <a:ext cx="836676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1F3864"/>
                </a:solidFill>
                <a:latin typeface="Calibri"/>
              </a:rPr>
              <a:t>▪  VOISMajorProject.ipynb</a:t>
            </a:r>
            <a:r>
              <a:rPr sz="1350">
                <a:solidFill>
                  <a:srgbClr val="333333"/>
                </a:solidFill>
                <a:latin typeface="Calibri"/>
              </a:rPr>
              <a:t>  The complete documented analysis — cleaning, EDA, 22+ visualisations, ANOVA and the final season summary.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1F3864"/>
                </a:solidFill>
                <a:latin typeface="Calibri"/>
              </a:rPr>
              <a:t>▪  seasonal_agriculture_performance_dataset.csv</a:t>
            </a:r>
            <a:r>
              <a:rPr sz="1350">
                <a:solidFill>
                  <a:srgbClr val="333333"/>
                </a:solidFill>
                <a:latin typeface="Calibri"/>
              </a:rPr>
              <a:t>  The raw 4,000-record dataset used throughout.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1F3864"/>
                </a:solidFill>
                <a:latin typeface="Calibri"/>
              </a:rPr>
              <a:t>▪  README.md</a:t>
            </a:r>
            <a:r>
              <a:rPr sz="1350">
                <a:solidFill>
                  <a:srgbClr val="333333"/>
                </a:solidFill>
                <a:latin typeface="Calibri"/>
              </a:rPr>
              <a:t>  Project overview, objective, methodology and key findings.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60720"/>
            <a:ext cx="8366760" cy="411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 i="1">
                <a:solidFill>
                  <a:srgbClr val="5A5A5A"/>
                </a:solidFill>
                <a:latin typeface="Calibri"/>
              </a:rPr>
              <a:t>Submitted for the VOIS for Tech – AICTE Major Project, Batch 1 (2026–27).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2600" dirty="0"/>
              <a:t>VOIS Course Completion Certificate — Data Visualization</a:t>
            </a:r>
            <a:br>
              <a:rPr lang="en-IN" sz="3200" dirty="0"/>
            </a:br>
          </a:p>
        </p:txBody>
      </p:sp>
      <p:pic>
        <p:nvPicPr>
          <p:cNvPr id="24" name="Picture 23" descr="cer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508990"/>
            <a:ext cx="6400800" cy="452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22960" y="2788920"/>
            <a:ext cx="7680960" cy="1554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</a:rPr>
              <a:t>Simmy Kumari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Indira Gandhi Delhi Technical University for Women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5A5A5A"/>
                </a:solidFill>
                <a:latin typeface="Calibri"/>
              </a:rPr>
              <a:t>AICTE Student ID : STU63c3cafa16af61673775866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github.com/SimmyKumari12/VOIS-Major-Project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1356</TotalTime>
  <Words>202</Words>
  <Application>Microsoft Office PowerPoint</Application>
  <PresentationFormat>Widescreen</PresentationFormat>
  <Paragraphs>26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-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Aswini Kumar Motapothula</cp:lastModifiedBy>
  <cp:revision>98</cp:revision>
  <dcterms:created xsi:type="dcterms:W3CDTF">2021-07-11T13:13:15Z</dcterms:created>
  <dcterms:modified xsi:type="dcterms:W3CDTF">2026-09-04T02:42:44Z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